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6459200" cy="21945600"/>
  <p:notesSz cx="6858000" cy="9144000"/>
  <p:embeddedFontLst>
    <p:embeddedFont>
      <p:font typeface="Open Sans Bold" charset="1" panose="020B08060305040202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6459200" cy="21945600"/>
          </a:xfrm>
          <a:custGeom>
            <a:avLst/>
            <a:gdLst/>
            <a:ahLst/>
            <a:cxnLst/>
            <a:rect r="r" b="b" t="t" l="l"/>
            <a:pathLst>
              <a:path h="21945600" w="16459200">
                <a:moveTo>
                  <a:pt x="0" y="0"/>
                </a:moveTo>
                <a:lnTo>
                  <a:pt x="16459200" y="0"/>
                </a:lnTo>
                <a:lnTo>
                  <a:pt x="16459200" y="21945600"/>
                </a:lnTo>
                <a:lnTo>
                  <a:pt x="0" y="21945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708" t="-781" r="-17708" b="-78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42417" y="-647862"/>
            <a:ext cx="18572048" cy="23241324"/>
            <a:chOff x="0" y="0"/>
            <a:chExt cx="3057127" cy="38257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57127" cy="3825732"/>
            </a:xfrm>
            <a:custGeom>
              <a:avLst/>
              <a:gdLst/>
              <a:ahLst/>
              <a:cxnLst/>
              <a:rect r="r" b="b" t="t" l="l"/>
              <a:pathLst>
                <a:path h="3825732" w="3057127">
                  <a:moveTo>
                    <a:pt x="33766" y="0"/>
                  </a:moveTo>
                  <a:lnTo>
                    <a:pt x="3023362" y="0"/>
                  </a:lnTo>
                  <a:cubicBezTo>
                    <a:pt x="3032317" y="0"/>
                    <a:pt x="3040905" y="3557"/>
                    <a:pt x="3047237" y="9890"/>
                  </a:cubicBezTo>
                  <a:cubicBezTo>
                    <a:pt x="3053570" y="16222"/>
                    <a:pt x="3057127" y="24810"/>
                    <a:pt x="3057127" y="33766"/>
                  </a:cubicBezTo>
                  <a:lnTo>
                    <a:pt x="3057127" y="3791967"/>
                  </a:lnTo>
                  <a:cubicBezTo>
                    <a:pt x="3057127" y="3810615"/>
                    <a:pt x="3042010" y="3825732"/>
                    <a:pt x="3023362" y="3825732"/>
                  </a:cubicBezTo>
                  <a:lnTo>
                    <a:pt x="33766" y="3825732"/>
                  </a:lnTo>
                  <a:cubicBezTo>
                    <a:pt x="15117" y="3825732"/>
                    <a:pt x="0" y="3810615"/>
                    <a:pt x="0" y="3791967"/>
                  </a:cubicBezTo>
                  <a:lnTo>
                    <a:pt x="0" y="33766"/>
                  </a:lnTo>
                  <a:cubicBezTo>
                    <a:pt x="0" y="15117"/>
                    <a:pt x="15117" y="0"/>
                    <a:pt x="33766" y="0"/>
                  </a:cubicBezTo>
                  <a:close/>
                </a:path>
              </a:pathLst>
            </a:custGeom>
            <a:solidFill>
              <a:srgbClr val="102631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057127" cy="387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331890" y="1075495"/>
            <a:ext cx="2962780" cy="2962780"/>
          </a:xfrm>
          <a:custGeom>
            <a:avLst/>
            <a:gdLst/>
            <a:ahLst/>
            <a:cxnLst/>
            <a:rect r="r" b="b" t="t" l="l"/>
            <a:pathLst>
              <a:path h="2962780" w="2962780">
                <a:moveTo>
                  <a:pt x="0" y="0"/>
                </a:moveTo>
                <a:lnTo>
                  <a:pt x="2962780" y="0"/>
                </a:lnTo>
                <a:lnTo>
                  <a:pt x="2962780" y="2962780"/>
                </a:lnTo>
                <a:lnTo>
                  <a:pt x="0" y="2962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280347" y="5574328"/>
            <a:ext cx="18151813" cy="8942354"/>
            <a:chOff x="0" y="0"/>
            <a:chExt cx="2987953" cy="1471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87953" cy="1471992"/>
            </a:xfrm>
            <a:custGeom>
              <a:avLst/>
              <a:gdLst/>
              <a:ahLst/>
              <a:cxnLst/>
              <a:rect r="r" b="b" t="t" l="l"/>
              <a:pathLst>
                <a:path h="1471992" w="2987953">
                  <a:moveTo>
                    <a:pt x="34547" y="0"/>
                  </a:moveTo>
                  <a:lnTo>
                    <a:pt x="2953405" y="0"/>
                  </a:lnTo>
                  <a:cubicBezTo>
                    <a:pt x="2962568" y="0"/>
                    <a:pt x="2971355" y="3640"/>
                    <a:pt x="2977834" y="10119"/>
                  </a:cubicBezTo>
                  <a:cubicBezTo>
                    <a:pt x="2984313" y="16598"/>
                    <a:pt x="2987953" y="25385"/>
                    <a:pt x="2987953" y="34547"/>
                  </a:cubicBezTo>
                  <a:lnTo>
                    <a:pt x="2987953" y="1437445"/>
                  </a:lnTo>
                  <a:cubicBezTo>
                    <a:pt x="2987953" y="1446608"/>
                    <a:pt x="2984313" y="1455395"/>
                    <a:pt x="2977834" y="1461874"/>
                  </a:cubicBezTo>
                  <a:cubicBezTo>
                    <a:pt x="2971355" y="1468353"/>
                    <a:pt x="2962568" y="1471992"/>
                    <a:pt x="2953405" y="1471992"/>
                  </a:cubicBezTo>
                  <a:lnTo>
                    <a:pt x="34547" y="1471992"/>
                  </a:lnTo>
                  <a:cubicBezTo>
                    <a:pt x="25385" y="1471992"/>
                    <a:pt x="16598" y="1468353"/>
                    <a:pt x="10119" y="1461874"/>
                  </a:cubicBezTo>
                  <a:cubicBezTo>
                    <a:pt x="3640" y="1455395"/>
                    <a:pt x="0" y="1446608"/>
                    <a:pt x="0" y="1437445"/>
                  </a:cubicBezTo>
                  <a:lnTo>
                    <a:pt x="0" y="34547"/>
                  </a:lnTo>
                  <a:cubicBezTo>
                    <a:pt x="0" y="25385"/>
                    <a:pt x="3640" y="16598"/>
                    <a:pt x="10119" y="10119"/>
                  </a:cubicBezTo>
                  <a:cubicBezTo>
                    <a:pt x="16598" y="3640"/>
                    <a:pt x="25385" y="0"/>
                    <a:pt x="34547" y="0"/>
                  </a:cubicBezTo>
                  <a:close/>
                </a:path>
              </a:pathLst>
            </a:custGeom>
            <a:solidFill>
              <a:srgbClr val="315263">
                <a:alpha val="84706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987953" cy="1519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76300" y="10027995"/>
            <a:ext cx="1483920" cy="1483920"/>
          </a:xfrm>
          <a:custGeom>
            <a:avLst/>
            <a:gdLst/>
            <a:ahLst/>
            <a:cxnLst/>
            <a:rect r="r" b="b" t="t" l="l"/>
            <a:pathLst>
              <a:path h="1483920" w="1483920">
                <a:moveTo>
                  <a:pt x="0" y="0"/>
                </a:moveTo>
                <a:lnTo>
                  <a:pt x="1483920" y="0"/>
                </a:lnTo>
                <a:lnTo>
                  <a:pt x="1483920" y="1483920"/>
                </a:lnTo>
                <a:lnTo>
                  <a:pt x="0" y="1483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70628" y="12482864"/>
            <a:ext cx="1295263" cy="1295263"/>
          </a:xfrm>
          <a:custGeom>
            <a:avLst/>
            <a:gdLst/>
            <a:ahLst/>
            <a:cxnLst/>
            <a:rect r="r" b="b" t="t" l="l"/>
            <a:pathLst>
              <a:path h="1295263" w="1295263">
                <a:moveTo>
                  <a:pt x="0" y="0"/>
                </a:moveTo>
                <a:lnTo>
                  <a:pt x="1295264" y="0"/>
                </a:lnTo>
                <a:lnTo>
                  <a:pt x="1295264" y="1295263"/>
                </a:lnTo>
                <a:lnTo>
                  <a:pt x="0" y="12952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26439" y="7917360"/>
            <a:ext cx="1219481" cy="1219481"/>
          </a:xfrm>
          <a:custGeom>
            <a:avLst/>
            <a:gdLst/>
            <a:ahLst/>
            <a:cxnLst/>
            <a:rect r="r" b="b" t="t" l="l"/>
            <a:pathLst>
              <a:path h="1219481" w="1219481">
                <a:moveTo>
                  <a:pt x="0" y="0"/>
                </a:moveTo>
                <a:lnTo>
                  <a:pt x="1219481" y="0"/>
                </a:lnTo>
                <a:lnTo>
                  <a:pt x="1219481" y="1219481"/>
                </a:lnTo>
                <a:lnTo>
                  <a:pt x="0" y="12194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70628" y="16726282"/>
            <a:ext cx="1190053" cy="1190053"/>
          </a:xfrm>
          <a:custGeom>
            <a:avLst/>
            <a:gdLst/>
            <a:ahLst/>
            <a:cxnLst/>
            <a:rect r="r" b="b" t="t" l="l"/>
            <a:pathLst>
              <a:path h="1190053" w="1190053">
                <a:moveTo>
                  <a:pt x="0" y="0"/>
                </a:moveTo>
                <a:lnTo>
                  <a:pt x="1190053" y="0"/>
                </a:lnTo>
                <a:lnTo>
                  <a:pt x="1190053" y="1190053"/>
                </a:lnTo>
                <a:lnTo>
                  <a:pt x="0" y="11900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26501" y="18976087"/>
            <a:ext cx="14606197" cy="5827706"/>
            <a:chOff x="0" y="0"/>
            <a:chExt cx="2404312" cy="9592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04312" cy="959293"/>
            </a:xfrm>
            <a:custGeom>
              <a:avLst/>
              <a:gdLst/>
              <a:ahLst/>
              <a:cxnLst/>
              <a:rect r="r" b="b" t="t" l="l"/>
              <a:pathLst>
                <a:path h="959293" w="2404312">
                  <a:moveTo>
                    <a:pt x="42934" y="0"/>
                  </a:moveTo>
                  <a:lnTo>
                    <a:pt x="2361379" y="0"/>
                  </a:lnTo>
                  <a:cubicBezTo>
                    <a:pt x="2385090" y="0"/>
                    <a:pt x="2404312" y="19222"/>
                    <a:pt x="2404312" y="42934"/>
                  </a:cubicBezTo>
                  <a:lnTo>
                    <a:pt x="2404312" y="916360"/>
                  </a:lnTo>
                  <a:cubicBezTo>
                    <a:pt x="2404312" y="940071"/>
                    <a:pt x="2385090" y="959293"/>
                    <a:pt x="2361379" y="959293"/>
                  </a:cubicBezTo>
                  <a:lnTo>
                    <a:pt x="42934" y="959293"/>
                  </a:lnTo>
                  <a:cubicBezTo>
                    <a:pt x="19222" y="959293"/>
                    <a:pt x="0" y="940071"/>
                    <a:pt x="0" y="916360"/>
                  </a:cubicBezTo>
                  <a:lnTo>
                    <a:pt x="0" y="42934"/>
                  </a:lnTo>
                  <a:cubicBezTo>
                    <a:pt x="0" y="19222"/>
                    <a:pt x="19222" y="0"/>
                    <a:pt x="42934" y="0"/>
                  </a:cubicBezTo>
                  <a:close/>
                </a:path>
              </a:pathLst>
            </a:custGeom>
            <a:solidFill>
              <a:srgbClr val="D7AB2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404312" cy="1025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2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87903" y="363685"/>
            <a:ext cx="12287118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  <a:spcBef>
                <a:spcPct val="0"/>
              </a:spcBef>
            </a:pPr>
            <a:r>
              <a:rPr lang="en-US" b="true" sz="6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Manua</a:t>
            </a:r>
            <a:r>
              <a:rPr lang="en-US" b="true" sz="6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 de Usuario: Sistema   de Registro y Acceso de Visitas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74206" y="2695250"/>
            <a:ext cx="10102067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Guía Rápida para Anfitriones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1729426"/>
            <a:ext cx="2704106" cy="3606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88"/>
              </a:lnSpc>
              <a:spcBef>
                <a:spcPct val="0"/>
              </a:spcBef>
            </a:pPr>
            <a:r>
              <a:rPr lang="en-US" b="true" sz="21063">
                <a:solidFill>
                  <a:srgbClr val="D7AB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52720" y="3527100"/>
            <a:ext cx="10522301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D7AB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Pasos para un Acceso Exitoso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7903" y="5942474"/>
            <a:ext cx="9054153" cy="102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1"/>
              </a:lnSpc>
              <a:spcBef>
                <a:spcPct val="0"/>
              </a:spcBef>
            </a:pPr>
            <a:r>
              <a:rPr lang="en-US" b="true" sz="60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ANT</a:t>
            </a:r>
            <a:r>
              <a:rPr lang="en-US" b="true" sz="60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 DE SU VISITA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23917" y="7628186"/>
            <a:ext cx="13330172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</a:t>
            </a: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AR: Envíe el link del portal a su visita y asegúrese de que entienda el proceso (especialmente que debe imprimir el pase y traer su NSS).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23917" y="10164165"/>
            <a:ext cx="13330172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evise su Microsoft Teams. Recibirá una copia del Pase de Acceso (PDF) de su visita cuando sea aprobada.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23917" y="12234193"/>
            <a:ext cx="13330172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ESOLVER: Si su visita le informa que no recibió el correo con su pase, es su responsabilidad contactar a Protección Patrimonial para validar el estatus y gestionar el envío.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87903" y="14973895"/>
            <a:ext cx="9054153" cy="102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1"/>
              </a:lnSpc>
              <a:spcBef>
                <a:spcPct val="0"/>
              </a:spcBef>
            </a:pPr>
            <a:r>
              <a:rPr lang="en-US" b="true" sz="60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DIA DE </a:t>
            </a:r>
            <a:r>
              <a:rPr lang="en-US" b="true" sz="60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 VISITA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07384" y="16431007"/>
            <a:ext cx="13386717" cy="230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RECIBIR: Esté al pendiente de la llegada de su visita. Debe ir personalmente (o enviar un delegado) a Recepción para recogerla.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560681" y="19476645"/>
            <a:ext cx="13386717" cy="230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ACOMPAÑAR: Por protocolo de seguridad, debe acompañar a su visita en todo momento mientras esté dentro de las instalaciones, desde que la recoge en Recepción hasta que la despide.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DAG38s3sM34</dc:identifier>
  <dcterms:modified xsi:type="dcterms:W3CDTF">2011-08-01T06:04:30Z</dcterms:modified>
  <cp:revision>1</cp:revision>
  <dc:title>Manual de Usuario: Sistema de Registro y Acceso de Visitas Guia Rapida Anfitrion</dc:title>
</cp:coreProperties>
</file>